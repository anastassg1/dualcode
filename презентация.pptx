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4ECD-F87D-455D-BD43-A1D80A614B2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BBF5-20A8-41CD-9E7E-049F1CEFE098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611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4ECD-F87D-455D-BD43-A1D80A614B2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BBF5-20A8-41CD-9E7E-049F1CEFE0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84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4ECD-F87D-455D-BD43-A1D80A614B2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BBF5-20A8-41CD-9E7E-049F1CEFE0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6321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4ECD-F87D-455D-BD43-A1D80A614B2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BBF5-20A8-41CD-9E7E-049F1CEFE0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821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4ECD-F87D-455D-BD43-A1D80A614B2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BBF5-20A8-41CD-9E7E-049F1CEFE0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322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4ECD-F87D-455D-BD43-A1D80A614B2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BBF5-20A8-41CD-9E7E-049F1CEFE0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792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4ECD-F87D-455D-BD43-A1D80A614B2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BBF5-20A8-41CD-9E7E-049F1CEFE0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346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4ECD-F87D-455D-BD43-A1D80A614B2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BBF5-20A8-41CD-9E7E-049F1CEFE0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91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4ECD-F87D-455D-BD43-A1D80A614B2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BBF5-20A8-41CD-9E7E-049F1CEFE0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28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4ECD-F87D-455D-BD43-A1D80A614B2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BBF5-20A8-41CD-9E7E-049F1CEFE0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5113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4ECD-F87D-455D-BD43-A1D80A614B2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BBF5-20A8-41CD-9E7E-049F1CEFE0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689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4ECD-F87D-455D-BD43-A1D80A614B2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BBF5-20A8-41CD-9E7E-049F1CEFE098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49832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4ECD-F87D-455D-BD43-A1D80A614B2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BBF5-20A8-41CD-9E7E-049F1CEFE0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5979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4ECD-F87D-455D-BD43-A1D80A614B2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BBF5-20A8-41CD-9E7E-049F1CEFE098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4173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4ECD-F87D-455D-BD43-A1D80A614B2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BBF5-20A8-41CD-9E7E-049F1CEFE0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8560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4ECD-F87D-455D-BD43-A1D80A614B2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BBF5-20A8-41CD-9E7E-049F1CEFE0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1767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4ECD-F87D-455D-BD43-A1D80A614B2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BBF5-20A8-41CD-9E7E-049F1CEFE0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267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CE54ECD-F87D-455D-BD43-A1D80A614B2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7DBBF5-20A8-41CD-9E7E-049F1CEFE0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5008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A81C00-F159-C284-1059-E5381C0306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1" y="3045351"/>
            <a:ext cx="6917235" cy="2745850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Название: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lang="en-US" altLang="ru-RU" sz="2000" dirty="0" err="1">
                <a:solidFill>
                  <a:schemeClr val="tx1"/>
                </a:solidFill>
                <a:latin typeface="Aptos Display" panose="020B0004020202020204" pitchFamily="34" charset="0"/>
                <a:cs typeface="Courier New" panose="02070309020205020404" pitchFamily="49" charset="0"/>
              </a:rPr>
              <a:t>DualCode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Суть: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Мобильная игра для изучения программирования на Python.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Целевая аудитория: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Подростки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12–17 лет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(новички).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Хакатон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Всероссийский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хакатон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«ИТ-Прорыв», «Мобильная разработка».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40BB9D-A31B-8464-6CB5-CB4D8D8305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4212" y="1663872"/>
            <a:ext cx="371999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О проекте</a:t>
            </a:r>
            <a:endParaRPr kumimoji="0" lang="ru-RU" altLang="ru-RU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913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DBB056C-A876-E615-818B-EA96D310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221" y="1091316"/>
            <a:ext cx="10058400" cy="2743200"/>
          </a:xfrm>
        </p:spPr>
        <p:txBody>
          <a:bodyPr>
            <a:normAutofit/>
          </a:bodyPr>
          <a:lstStyle/>
          <a:p>
            <a:r>
              <a:rPr lang="ru-RU" b="1" u="none" strike="noStrike" dirty="0">
                <a:effectLst/>
                <a:latin typeface="Google Sans"/>
              </a:rPr>
              <a:t>Проблема и решение</a:t>
            </a:r>
            <a:br>
              <a:rPr lang="ru-RU" b="1" u="none" strike="noStrike" dirty="0">
                <a:effectLst/>
                <a:latin typeface="Google Sans"/>
              </a:rPr>
            </a:b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5B11BC-63AA-7E31-92CF-55A502674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614" y="3128839"/>
            <a:ext cx="8535988" cy="1879600"/>
          </a:xfrm>
        </p:spPr>
        <p:txBody>
          <a:bodyPr>
            <a:normAutofit fontScale="92500" lnSpcReduction="10000"/>
          </a:bodyPr>
          <a:lstStyle/>
          <a:p>
            <a:r>
              <a:rPr lang="ru-RU" sz="2800" b="1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Проблема:</a:t>
            </a:r>
            <a:r>
              <a:rPr lang="ru-RU" sz="2800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Скучная теория на старте ➔ подростки бросают обучение.</a:t>
            </a:r>
            <a:br>
              <a:rPr lang="ru-RU" sz="2800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</a:br>
            <a:r>
              <a:rPr lang="ru-RU" sz="2800" b="1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Наше решение:</a:t>
            </a:r>
            <a:r>
              <a:rPr lang="ru-RU" sz="2800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</a:t>
            </a:r>
            <a:r>
              <a:rPr lang="ru-RU" sz="2800" b="0" u="none" strike="noStrike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Микрообучение</a:t>
            </a:r>
            <a:r>
              <a:rPr lang="ru-RU" sz="2800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(урок 3–5 минут) + сюжетная геймификация.</a:t>
            </a:r>
            <a:br>
              <a:rPr lang="ru-RU" sz="2800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</a:br>
            <a:endParaRPr lang="ru-RU" sz="2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080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25E0DB66-393D-8B73-5230-9AB5EF1CA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2" y="2842592"/>
            <a:ext cx="8535988" cy="1879600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Каждая миссия — это цепочка: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Лекция простым языком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➔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Тест (Симулятор кода)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➔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Результат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Урок 1: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Сбой светофора (логика конструкции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Урок 2: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Сломанный робот (развилка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if-else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Урок 3: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Охота на баг (отладка кода и знаки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).</a:t>
            </a:r>
            <a:endParaRPr lang="ru-RU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75907B-254E-2529-B046-BCEBB0F376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4212" y="1780432"/>
            <a:ext cx="7083349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Маршрут и структура уроков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373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DC01A-6411-8AF7-B56B-17FE2751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194684"/>
            <a:ext cx="10058400" cy="2743200"/>
          </a:xfrm>
        </p:spPr>
        <p:txBody>
          <a:bodyPr>
            <a:normAutofit/>
          </a:bodyPr>
          <a:lstStyle/>
          <a:p>
            <a:r>
              <a:rPr lang="ru-RU" b="1" u="none" strike="noStrike" dirty="0">
                <a:effectLst/>
                <a:latin typeface="Google Sans"/>
              </a:rPr>
              <a:t>Геймификация и прогресс</a:t>
            </a:r>
            <a:br>
              <a:rPr lang="ru-RU" b="1" u="none" strike="noStrike" dirty="0">
                <a:effectLst/>
                <a:latin typeface="Google Sans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BA66DC-41A9-1F15-23F2-567A55AB2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2" y="3081130"/>
            <a:ext cx="8535988" cy="1879600"/>
          </a:xfrm>
        </p:spPr>
        <p:txBody>
          <a:bodyPr>
            <a:normAutofit fontScale="92500" lnSpcReduction="20000"/>
          </a:bodyPr>
          <a:lstStyle/>
          <a:p>
            <a:r>
              <a:rPr lang="ru-RU" b="1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Игровая механика:</a:t>
            </a:r>
            <a: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Прохождение тестов восстанавливает разрушенный </a:t>
            </a:r>
            <a:r>
              <a:rPr lang="ru-RU" b="0" u="none" strike="noStrike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Кибергород</a:t>
            </a:r>
            <a: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.</a:t>
            </a:r>
            <a:b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</a:br>
            <a:r>
              <a:rPr lang="ru-RU" b="1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Награды:</a:t>
            </a:r>
            <a: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За каждый правильный ответ — </a:t>
            </a:r>
            <a:r>
              <a:rPr lang="ru-RU" b="1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+50 XP</a:t>
            </a:r>
            <a: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и </a:t>
            </a:r>
            <a:r>
              <a:rPr lang="ru-RU" b="1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1 цифровой ключ 🔑</a:t>
            </a:r>
            <a:b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</a:br>
            <a: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.</a:t>
            </a:r>
            <a:b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</a:br>
            <a:r>
              <a:rPr lang="ru-RU" b="1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Счетчик:</a:t>
            </a:r>
            <a: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Прогресс наглядно виден на экране (максимум </a:t>
            </a:r>
            <a:r>
              <a:rPr lang="ru-RU" b="1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150 XP</a:t>
            </a:r>
            <a: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за модуль).</a:t>
            </a:r>
            <a:b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</a:br>
            <a:r>
              <a:rPr lang="ru-RU" b="1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Защита:</a:t>
            </a:r>
            <a: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Уровень считается пройденным строго при верном ответе.</a:t>
            </a:r>
            <a:b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</a:br>
            <a:endParaRPr lang="ru-RU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343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48DBD6-6AB4-B92E-AC52-CDC36F930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563" y="1131074"/>
            <a:ext cx="10058400" cy="2743200"/>
          </a:xfrm>
        </p:spPr>
        <p:txBody>
          <a:bodyPr>
            <a:normAutofit/>
          </a:bodyPr>
          <a:lstStyle/>
          <a:p>
            <a:r>
              <a:rPr lang="ru-RU" b="1" u="none" strike="noStrike" dirty="0">
                <a:effectLst/>
                <a:latin typeface="Google Sans"/>
              </a:rPr>
              <a:t>Технологии</a:t>
            </a:r>
            <a:br>
              <a:rPr lang="ru-RU" b="1" u="none" strike="noStrike" dirty="0">
                <a:effectLst/>
                <a:latin typeface="Google Sans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393077-FEFF-8FBE-4F56-0F2107E18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563" y="3065227"/>
            <a:ext cx="8535988" cy="1879600"/>
          </a:xfrm>
        </p:spPr>
        <p:txBody>
          <a:bodyPr>
            <a:normAutofit fontScale="92500"/>
          </a:bodyPr>
          <a:lstStyle/>
          <a:p>
            <a:r>
              <a:rPr lang="ru-RU" b="1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Платформа:</a:t>
            </a:r>
            <a: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</a:t>
            </a:r>
            <a:r>
              <a:rPr lang="ru-RU" b="0" u="none" strike="noStrike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Android</a:t>
            </a:r>
            <a: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-приложение.</a:t>
            </a:r>
            <a:b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</a:br>
            <a:r>
              <a:rPr lang="ru-RU" b="1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Стек:</a:t>
            </a:r>
            <a: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Язык </a:t>
            </a:r>
            <a:r>
              <a:rPr lang="ru-RU" b="1" u="none" strike="noStrike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Kotlin</a:t>
            </a:r>
            <a: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, интерфейс </a:t>
            </a:r>
            <a:r>
              <a:rPr lang="ru-RU" b="1" u="none" strike="noStrike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Jetpack</a:t>
            </a:r>
            <a:r>
              <a:rPr lang="ru-RU" b="1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</a:t>
            </a:r>
            <a:r>
              <a:rPr lang="ru-RU" b="1" u="none" strike="noStrike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Compose</a:t>
            </a:r>
            <a: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.</a:t>
            </a:r>
            <a:b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</a:br>
            <a:r>
              <a:rPr lang="ru-RU" b="1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Сохранение:</a:t>
            </a:r>
            <a: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Локальное кэширование прогресса через </a:t>
            </a:r>
            <a:r>
              <a:rPr lang="ru-RU" b="1" u="none" strike="noStrike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Preferences</a:t>
            </a:r>
            <a:r>
              <a:rPr lang="ru-RU" b="1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</a:t>
            </a:r>
            <a:r>
              <a:rPr lang="ru-RU" b="1" u="none" strike="noStrike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DataStore</a:t>
            </a:r>
            <a: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.</a:t>
            </a:r>
            <a:b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</a:br>
            <a:r>
              <a:rPr lang="ru-RU" b="1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Разработка:</a:t>
            </a:r>
            <a: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  <a:t> Образовательная логика, код и дизайн созданы командой полностью с нуля.</a:t>
            </a:r>
            <a:br>
              <a:rPr lang="ru-RU" b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oogle Sans"/>
              </a:rPr>
            </a:br>
            <a:endParaRPr lang="ru-RU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15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BF3DC9-CA59-5E36-3CC5-66EF75510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243" y="4857957"/>
            <a:ext cx="8534400" cy="1507067"/>
          </a:xfrm>
        </p:spPr>
        <p:txBody>
          <a:bodyPr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1.Главный экран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Кибергорода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(прогресс и ключи).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</a:b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2. Экран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скролл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-лекции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БИТа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(теория крупным шрифтом).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</a:b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3. Симулятор кода Python (тест и кнопка «Проверить»).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</a:b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ru-RU" sz="24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86D657B-4796-5748-AECF-7643D015E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733664-CDE8-7019-541A-69E54D40E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258680"/>
            <a:ext cx="2262188" cy="435647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B42F1C8-4E07-5C57-D1F5-EFCDDFDC2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476" y="258676"/>
            <a:ext cx="2262188" cy="43564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DED08D2-A967-D4ED-A2E3-97C2A8680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740" y="258676"/>
            <a:ext cx="2262188" cy="435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385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5CD9C4-B497-71D2-4C5B-CAB775AB5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735" y="2478778"/>
            <a:ext cx="8534400" cy="1507067"/>
          </a:xfrm>
        </p:spPr>
        <p:txBody>
          <a:bodyPr/>
          <a:lstStyle/>
          <a:p>
            <a:r>
              <a:rPr lang="ru-RU" b="1" dirty="0"/>
              <a:t>Спасибо за внимание!!!</a:t>
            </a:r>
          </a:p>
        </p:txBody>
      </p:sp>
    </p:spTree>
    <p:extLst>
      <p:ext uri="{BB962C8B-B14F-4D97-AF65-F5344CB8AC3E}">
        <p14:creationId xmlns:p14="http://schemas.microsoft.com/office/powerpoint/2010/main" val="3905589083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Фиолетовый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73</TotalTime>
  <Words>260</Words>
  <Application>Microsoft Office PowerPoint</Application>
  <PresentationFormat>Широкоэкранный</PresentationFormat>
  <Paragraphs>19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Aptos Display</vt:lpstr>
      <vt:lpstr>Arial</vt:lpstr>
      <vt:lpstr>Century Gothic</vt:lpstr>
      <vt:lpstr>Courier New</vt:lpstr>
      <vt:lpstr>Google Sans</vt:lpstr>
      <vt:lpstr>Wingdings 3</vt:lpstr>
      <vt:lpstr>Сектор</vt:lpstr>
      <vt:lpstr>О проекте</vt:lpstr>
      <vt:lpstr>Проблема и решение </vt:lpstr>
      <vt:lpstr>Маршрут и структура уроков </vt:lpstr>
      <vt:lpstr>Геймификация и прогресс </vt:lpstr>
      <vt:lpstr>Технологии </vt:lpstr>
      <vt:lpstr>  1.Главный экран Кибергорода (прогресс и ключи). 2. Экран скролл-лекции БИТа (теория крупным шрифтом). 3. Симулятор кода Python (тест и кнопка «Проверить»).  </vt:lpstr>
      <vt:lpstr>Спасибо за внимание!!!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2</cp:revision>
  <dcterms:created xsi:type="dcterms:W3CDTF">2026-10-11T16:05:45Z</dcterms:created>
  <dcterms:modified xsi:type="dcterms:W3CDTF">2026-10-11T17:19:13Z</dcterms:modified>
</cp:coreProperties>
</file>